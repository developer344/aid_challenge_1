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65" y="609563"/>
            <a:ext cx="10566398" cy="502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65" y="1417274"/>
            <a:ext cx="10566435" cy="4627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65" y="609563"/>
            <a:ext cx="10566398" cy="502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65" y="1417274"/>
            <a:ext cx="10566435" cy="4627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5" y="609562"/>
            <a:ext cx="10883436" cy="528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Challenge 1 - Psychophysics Prototype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765" y="1163241"/>
            <a:ext cx="10883436" cy="309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2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Ioannis Georgopoulos &amp; Sophia Silva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765" y="1701657"/>
            <a:ext cx="10883436" cy="299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Setup addressed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97347" y="2026727"/>
            <a:ext cx="10791234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#1, Visual vs. Auditory Reaction Time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765" y="2529593"/>
            <a:ext cx="10883436" cy="299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Tools used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7347" y="2854663"/>
            <a:ext cx="10791234" cy="126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Arduino + Grove base shield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Push button, LED, buzzer, wires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Arduino IDE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StandardFirmata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Processing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5" y="609563"/>
            <a:ext cx="10883390" cy="528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Wiring and Arduino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765" y="1466845"/>
            <a:ext cx="7070254" cy="299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97347" y="1791915"/>
            <a:ext cx="10130593" cy="780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b="1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Button: </a:t>
            </a:r>
            <a:r>
              <a:rPr lang="en-US" sz="1400" i="1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Digital port 2 (D2)</a:t>
            </a: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→ GND (internal pull-up, pressed = HIGH in this configuration)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b="1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LED: </a:t>
            </a:r>
            <a:r>
              <a:rPr lang="en-US" sz="1400" i="1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Digital port 4 (D4) </a:t>
            </a: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220 ohm → LED anode, cathode → GND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b="1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Buzzer: </a:t>
            </a:r>
            <a:r>
              <a:rPr lang="en-US" sz="1400" i="1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Digital port 6 (D6)</a:t>
            </a: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→ buzzer (+), buzzer (-) → GND (passive buzzer via PWM)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40" y="2754720"/>
            <a:ext cx="3295612" cy="1898646"/>
          </a:xfrm>
          <a:prstGeom prst="roundRect">
            <a:avLst>
              <a:gd name="adj" fmla="val 5184"/>
            </a:avLst>
          </a:prstGeom>
          <a:solidFill>
            <a:srgbClr val="EEF2F4"/>
          </a:solidFill>
          <a:ln w="6350">
            <a:solidFill>
              <a:srgbClr val="D8E0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2531" y="3011311"/>
            <a:ext cx="2865903" cy="299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Pin modes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2531" y="3412599"/>
            <a:ext cx="2865903" cy="268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Button, pin 2:</a:t>
            </a: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input with pull-up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2531" y="3782502"/>
            <a:ext cx="2865903" cy="268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LED, pin 4:</a:t>
            </a: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digital output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2531" y="4152406"/>
            <a:ext cx="2865903" cy="268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Buzzer, pin 6:</a:t>
            </a: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PWM output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7347" y="5199848"/>
            <a:ext cx="6978052" cy="523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uploaded </a:t>
            </a:r>
            <a:r>
              <a:rPr lang="en-US" sz="1400" dirty="0">
                <a:solidFill>
                  <a:srgbClr val="1B6A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StandardFirmata</a:t>
            </a: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once; the board only reports its pins to the laptop.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the logic (trial order, random wait, timing) runs in Processing.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765" y="4925545"/>
            <a:ext cx="7070254" cy="299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the Arduino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5" y="609563"/>
            <a:ext cx="10883390" cy="528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Switching to Processing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765" y="1163241"/>
            <a:ext cx="10883390" cy="309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2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Ioannis Georgopoulos &amp; Sophia Silva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5940" y="1755735"/>
            <a:ext cx="9531128" cy="1849147"/>
          </a:xfrm>
          <a:prstGeom prst="roundRect">
            <a:avLst>
              <a:gd name="adj" fmla="val 5323"/>
            </a:avLst>
          </a:prstGeom>
          <a:solidFill>
            <a:srgbClr val="EEF2F4"/>
          </a:solidFill>
          <a:ln w="6350">
            <a:solidFill>
              <a:srgbClr val="D8E0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531" y="2012325"/>
            <a:ext cx="9288484" cy="299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Talking to the Arduino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7113" y="2388208"/>
            <a:ext cx="9196282" cy="985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Firmata library did not connect for us, so we send the Firmata commands ourselves with </a:t>
            </a:r>
            <a:r>
              <a:rPr lang="en-US" sz="1400" dirty="0">
                <a:solidFill>
                  <a:srgbClr val="1B6A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Serial.write</a:t>
            </a: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  <a:p>
            <a:pPr algn="l" marL="169418" indent="-1694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LED: switched on and off with the digital-pin command.</a:t>
            </a:r>
            <a:endParaRPr lang="en-US" sz="1400" dirty="0"/>
          </a:p>
          <a:p>
            <a:pPr algn="l" marL="169418" indent="-1694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Buzzer: PWM value 127 (50% duty) to sound it, 0 to stop it.</a:t>
            </a:r>
            <a:endParaRPr lang="en-US" sz="1400" dirty="0"/>
          </a:p>
          <a:p>
            <a:pPr algn="l" marL="169418" indent="-1694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Button: </a:t>
            </a:r>
            <a:r>
              <a:rPr lang="en-US" sz="1400" dirty="0">
                <a:solidFill>
                  <a:srgbClr val="1B6A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serialEvent()</a:t>
            </a: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saves </a:t>
            </a:r>
            <a:r>
              <a:rPr lang="en-US" sz="1400" dirty="0">
                <a:solidFill>
                  <a:srgbClr val="1B6A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System.nanoTime()</a:t>
            </a: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the moment a press arrives.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5940" y="3799354"/>
            <a:ext cx="9531128" cy="2089168"/>
          </a:xfrm>
          <a:prstGeom prst="roundRect">
            <a:avLst>
              <a:gd name="adj" fmla="val 4711"/>
            </a:avLst>
          </a:prstGeom>
          <a:solidFill>
            <a:srgbClr val="EEF2F4"/>
          </a:solidFill>
          <a:ln w="6350">
            <a:solidFill>
              <a:srgbClr val="D8E0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2531" y="4055945"/>
            <a:ext cx="9288484" cy="299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Running the experiment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57113" y="4431827"/>
            <a:ext cx="9196282" cy="1225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 visual and 20 auditory trials, in random order.</a:t>
            </a:r>
            <a:endParaRPr lang="en-US" sz="1400" dirty="0"/>
          </a:p>
          <a:p>
            <a:pPr algn="l" marL="169418" indent="-1694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Random wait of 1–4 s, then the LED or buzzer turns on. Reaction time = press time − stimulus time.</a:t>
            </a:r>
            <a:endParaRPr lang="en-US" sz="1400" dirty="0"/>
          </a:p>
          <a:p>
            <a:pPr algn="l" marL="169418" indent="-1694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press before the stimulus = false start</a:t>
            </a:r>
            <a:endParaRPr lang="en-US" sz="1400" dirty="0"/>
          </a:p>
          <a:p>
            <a:pPr algn="l" marL="169418" indent="-1694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no press within 2s = trial is invalid (subject was too slow).</a:t>
            </a:r>
            <a:endParaRPr lang="en-US" sz="1400" dirty="0"/>
          </a:p>
          <a:p>
            <a:pPr algn="l" marL="169418" indent="-1694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1141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 are saved as a CSV, with the median and mean for each stimulus.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sual vs. Auditory Reaction Time">
  <a:themeElements>
    <a:clrScheme name="Visual vs. Auditory Reaction Time">
      <a:dk1>
        <a:srgbClr val="111418"/>
      </a:dk1>
      <a:lt1>
        <a:srgbClr val="FDFDFC"/>
      </a:lt1>
      <a:dk2>
        <a:srgbClr val="4C4E51"/>
      </a:dk2>
      <a:lt2>
        <a:srgbClr val="E5E6E5"/>
      </a:lt2>
      <a:accent1>
        <a:srgbClr val="4A525A"/>
      </a:accent1>
      <a:accent2>
        <a:srgbClr val="9AA0A6"/>
      </a:accent2>
      <a:accent3>
        <a:srgbClr val="6F7173"/>
      </a:accent3>
      <a:accent4>
        <a:srgbClr val="939495"/>
      </a:accent4>
      <a:accent5>
        <a:srgbClr val="B6B7B8"/>
      </a:accent5>
      <a:accent6>
        <a:srgbClr val="CECECE"/>
      </a:accent6>
      <a:hlink>
        <a:srgbClr val="0563C1"/>
      </a:hlink>
      <a:folHlink>
        <a:srgbClr val="954F72"/>
      </a:folHlink>
    </a:clrScheme>
    <a:fontScheme name="Visual vs. Auditory Reaction Time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vs. Auditory Reaction Time</dc:title>
  <dc:subject/>
  <dc:creator/>
  <cp:lastModifiedBy/>
  <cp:revision>1</cp:revision>
  <dcterms:created xsi:type="dcterms:W3CDTF">2026-10-12T14:34:46Z</dcterms:created>
  <dcterms:modified xsi:type="dcterms:W3CDTF">2026-10-12T14:34:46Z</dcterms:modified>
</cp:coreProperties>
</file>